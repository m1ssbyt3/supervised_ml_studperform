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lmarai" charset="1" panose="00000000000000000000"/>
      <p:regular r:id="rId16"/>
    </p:embeddedFont>
    <p:embeddedFont>
      <p:font typeface="Comic Sans Bold" charset="1" panose="03000902030302020204"/>
      <p:regular r:id="rId17"/>
    </p:embeddedFont>
    <p:embeddedFont>
      <p:font typeface="Almarai Bold" charset="1" panose="00000000000000000000"/>
      <p:regular r:id="rId18"/>
    </p:embeddedFont>
    <p:embeddedFont>
      <p:font typeface="Comic Sans" charset="1" panose="030007020303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18903" y="-827828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4106540" y="920141"/>
            <a:ext cx="3086434" cy="4409192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424079" y="-1393699"/>
            <a:ext cx="1683983" cy="2405689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355202" y="-2707527"/>
            <a:ext cx="6752859" cy="9646942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1428" t="0" r="-2142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513210" y="-2119684"/>
            <a:ext cx="6752859" cy="9646942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76984" t="0" r="-76984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6266070" y="2852929"/>
            <a:ext cx="841991" cy="8419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-6316505" y="3694920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-10800000">
            <a:off x="1978023" y="6450822"/>
            <a:ext cx="2564685" cy="3663835"/>
            <a:chOff x="0" y="0"/>
            <a:chExt cx="4445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822694" y="8053169"/>
            <a:ext cx="6285367" cy="44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8"/>
              </a:lnSpc>
              <a:spcBef>
                <a:spcPct val="0"/>
              </a:spcBef>
            </a:pPr>
            <a:r>
              <a:rPr lang="en-US" sz="2787" spc="426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Presented by: Sharon Kipsang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78023" y="5018563"/>
            <a:ext cx="7663169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9" b="true">
                <a:solidFill>
                  <a:srgbClr val="FFBD59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Advancing SDG 4 — Quality Education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2606" y="2596971"/>
            <a:ext cx="7571394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 b="true">
                <a:solidFill>
                  <a:srgbClr val="7ED957"/>
                </a:solidFill>
                <a:latin typeface="Almarai Bold"/>
                <a:ea typeface="Almarai Bold"/>
                <a:cs typeface="Almarai Bold"/>
                <a:sym typeface="Almarai Bold"/>
              </a:rPr>
              <a:t>SUPERVISED MACHINE LEARNING PREDICTS STUDENT PERFORMANCE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8890" y="3666129"/>
            <a:ext cx="1622427" cy="162242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95904" y="1461256"/>
            <a:ext cx="1581555" cy="158155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73633" y="1623774"/>
            <a:ext cx="626096" cy="906191"/>
          </a:xfrm>
          <a:custGeom>
            <a:avLst/>
            <a:gdLst/>
            <a:ahLst/>
            <a:cxnLst/>
            <a:rect r="r" b="b" t="t" l="l"/>
            <a:pathLst>
              <a:path h="906191" w="626096">
                <a:moveTo>
                  <a:pt x="0" y="0"/>
                </a:moveTo>
                <a:lnTo>
                  <a:pt x="626096" y="0"/>
                </a:lnTo>
                <a:lnTo>
                  <a:pt x="626096" y="906191"/>
                </a:lnTo>
                <a:lnTo>
                  <a:pt x="0" y="906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13473" y="3920362"/>
            <a:ext cx="833263" cy="842453"/>
          </a:xfrm>
          <a:custGeom>
            <a:avLst/>
            <a:gdLst/>
            <a:ahLst/>
            <a:cxnLst/>
            <a:rect r="r" b="b" t="t" l="l"/>
            <a:pathLst>
              <a:path h="842453" w="833263">
                <a:moveTo>
                  <a:pt x="0" y="0"/>
                </a:moveTo>
                <a:lnTo>
                  <a:pt x="833262" y="0"/>
                </a:lnTo>
                <a:lnTo>
                  <a:pt x="833262" y="842453"/>
                </a:lnTo>
                <a:lnTo>
                  <a:pt x="0" y="842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0"/>
              <a:stretch>
                <a:fillRect l="-201730" t="0" r="-20173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0"/>
              <a:stretch>
                <a:fillRect l="-201730" t="0" r="-20173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26211" t="0" r="-126211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-5400000">
            <a:off x="2929983" y="7929818"/>
            <a:ext cx="1056306" cy="105630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26211" t="0" r="-126211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477340" y="2529965"/>
            <a:ext cx="5754080" cy="8220114"/>
            <a:chOff x="0" y="0"/>
            <a:chExt cx="4445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0"/>
              <a:stretch>
                <a:fillRect l="-201730" t="0" r="-20173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4134426" y="-2216205"/>
            <a:ext cx="5754080" cy="8220114"/>
            <a:chOff x="0" y="0"/>
            <a:chExt cx="4445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0"/>
              <a:stretch>
                <a:fillRect l="-201730" t="0" r="-20173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886681" y="3411896"/>
            <a:ext cx="94516" cy="2130893"/>
            <a:chOff x="0" y="0"/>
            <a:chExt cx="24893" cy="5612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893" cy="561223"/>
            </a:xfrm>
            <a:custGeom>
              <a:avLst/>
              <a:gdLst/>
              <a:ahLst/>
              <a:cxnLst/>
              <a:rect r="r" b="b" t="t" l="l"/>
              <a:pathLst>
                <a:path h="561223" w="2489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330104" y="6185852"/>
            <a:ext cx="94516" cy="2130893"/>
            <a:chOff x="0" y="0"/>
            <a:chExt cx="24893" cy="5612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893" cy="561223"/>
            </a:xfrm>
            <a:custGeom>
              <a:avLst/>
              <a:gdLst/>
              <a:ahLst/>
              <a:cxnLst/>
              <a:rect r="r" b="b" t="t" l="l"/>
              <a:pathLst>
                <a:path h="561223" w="2489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368361" y="4173245"/>
            <a:ext cx="6018808" cy="173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515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  🔸 Many</a:t>
            </a:r>
            <a:r>
              <a:rPr lang="en-US" sz="2515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 students fail or drop out due to lack of early support.</a:t>
            </a:r>
          </a:p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515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 🔸 Educators often only realize issues after poor final grades.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961966" y="1028661"/>
            <a:ext cx="7830342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8"/>
              </a:lnSpc>
              <a:spcBef>
                <a:spcPct val="0"/>
              </a:spcBef>
            </a:pPr>
            <a:r>
              <a:rPr lang="en-US" b="true" sz="5748">
                <a:solidFill>
                  <a:srgbClr val="FFBD59"/>
                </a:solidFill>
                <a:latin typeface="Almarai Bold"/>
                <a:ea typeface="Almarai Bold"/>
                <a:cs typeface="Almarai Bold"/>
                <a:sym typeface="Almarai Bold"/>
              </a:rPr>
              <a:t>THE PROBLEM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771974" y="2298495"/>
            <a:ext cx="6429070" cy="92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3725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En</a:t>
            </a:r>
            <a:r>
              <a:rPr lang="en-US" sz="269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sure inclusive, equitable, and quality education for all.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77458" y="1836702"/>
            <a:ext cx="4563412" cy="46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BD59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SDG 4 Goal: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41318" y="3716024"/>
            <a:ext cx="4026849" cy="48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3"/>
              </a:lnSpc>
              <a:spcBef>
                <a:spcPct val="0"/>
              </a:spcBef>
            </a:pPr>
            <a:r>
              <a:rPr lang="en-US" b="true" sz="2915">
                <a:solidFill>
                  <a:srgbClr val="FFBD59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Challenge</a:t>
            </a:r>
          </a:p>
        </p:txBody>
      </p:sp>
      <p:grpSp>
        <p:nvGrpSpPr>
          <p:cNvPr name="Group 39" id="39"/>
          <p:cNvGrpSpPr/>
          <p:nvPr/>
        </p:nvGrpSpPr>
        <p:grpSpPr>
          <a:xfrm rot="5400000">
            <a:off x="6135497" y="876112"/>
            <a:ext cx="1224824" cy="1224824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26211" t="0" r="-126211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6056866" y="989019"/>
            <a:ext cx="1456246" cy="83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01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513111" y="7007225"/>
            <a:ext cx="5375865" cy="166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✔️ If we can predict</a:t>
            </a:r>
            <a:r>
              <a:rPr lang="en-US" sz="2400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 student performance, educators can offer help before it’s too late.</a:t>
            </a:r>
          </a:p>
          <a:p>
            <a:pPr algn="l" marL="0" indent="0" lvl="0">
              <a:lnSpc>
                <a:spcPts val="3311"/>
              </a:lnSpc>
              <a:spcBef>
                <a:spcPct val="0"/>
              </a:spcBef>
            </a:pPr>
          </a:p>
        </p:txBody>
      </p:sp>
      <p:grpSp>
        <p:nvGrpSpPr>
          <p:cNvPr name="Group 43" id="43"/>
          <p:cNvGrpSpPr/>
          <p:nvPr/>
        </p:nvGrpSpPr>
        <p:grpSpPr>
          <a:xfrm rot="0">
            <a:off x="5681163" y="6460521"/>
            <a:ext cx="1581555" cy="1581555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6135497" y="6798203"/>
            <a:ext cx="626096" cy="906191"/>
          </a:xfrm>
          <a:custGeom>
            <a:avLst/>
            <a:gdLst/>
            <a:ahLst/>
            <a:cxnLst/>
            <a:rect r="r" b="b" t="t" l="l"/>
            <a:pathLst>
              <a:path h="906191" w="626096">
                <a:moveTo>
                  <a:pt x="0" y="0"/>
                </a:moveTo>
                <a:lnTo>
                  <a:pt x="626095" y="0"/>
                </a:lnTo>
                <a:lnTo>
                  <a:pt x="626095" y="906191"/>
                </a:lnTo>
                <a:lnTo>
                  <a:pt x="0" y="906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7360320" y="6403640"/>
            <a:ext cx="4026849" cy="48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3"/>
              </a:lnSpc>
              <a:spcBef>
                <a:spcPct val="0"/>
              </a:spcBef>
            </a:pPr>
            <a:r>
              <a:rPr lang="en-US" b="true" sz="2915">
                <a:solidFill>
                  <a:srgbClr val="FFBD59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Impact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16263" y="-1052864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5884715" y="7926921"/>
            <a:ext cx="1102230" cy="110223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585280" y="-1631278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171737" y="658415"/>
            <a:ext cx="594452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7"/>
              </a:lnSpc>
              <a:spcBef>
                <a:spcPct val="0"/>
              </a:spcBef>
            </a:pPr>
            <a:r>
              <a:rPr lang="en-US" b="true" sz="6423">
                <a:solidFill>
                  <a:srgbClr val="FFBD59"/>
                </a:solidFill>
                <a:latin typeface="Almarai Bold"/>
                <a:ea typeface="Almarai Bold"/>
                <a:cs typeface="Almarai Bold"/>
                <a:sym typeface="Almarai Bold"/>
              </a:rPr>
              <a:t>ML APPROACH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555050" y="0"/>
            <a:ext cx="4904260" cy="7006086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57142" t="0" r="-5714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077794" y="7789658"/>
            <a:ext cx="1376755" cy="137675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715491" y="725848"/>
            <a:ext cx="1456246" cy="85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7ED957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5400000">
            <a:off x="7746753" y="3484738"/>
            <a:ext cx="1565733" cy="156573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454550" y="1983458"/>
            <a:ext cx="4563412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9"/>
              </a:lnSpc>
              <a:spcBef>
                <a:spcPct val="0"/>
              </a:spcBef>
            </a:pPr>
            <a:r>
              <a:rPr lang="en-US" b="true" sz="2999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Dataset : 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12324" y="3244321"/>
            <a:ext cx="4563412" cy="48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3"/>
              </a:lnSpc>
              <a:spcBef>
                <a:spcPct val="0"/>
              </a:spcBef>
            </a:pPr>
            <a:r>
              <a:rPr lang="en-US" b="true" sz="2915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Target :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83652" y="4673878"/>
            <a:ext cx="4563412" cy="49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01"/>
              </a:lnSpc>
              <a:spcBef>
                <a:spcPct val="0"/>
              </a:spcBef>
            </a:pPr>
            <a:r>
              <a:rPr lang="en-US" b="true" sz="2899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Features 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53661" y="5895709"/>
            <a:ext cx="4563412" cy="48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3"/>
              </a:lnSpc>
              <a:spcBef>
                <a:spcPct val="0"/>
              </a:spcBef>
            </a:pPr>
            <a:r>
              <a:rPr lang="en-US" b="true" sz="2915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ML Model :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62066" y="7191404"/>
            <a:ext cx="4563412" cy="48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3"/>
              </a:lnSpc>
              <a:spcBef>
                <a:spcPct val="0"/>
              </a:spcBef>
            </a:pPr>
            <a:r>
              <a:rPr lang="en-US" b="true" sz="2915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Goal  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26405" y="2068151"/>
            <a:ext cx="689866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UCI</a:t>
            </a:r>
            <a:r>
              <a:rPr lang="en-US" sz="249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 Student Performance Dataset (395 students)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1449" y="3354070"/>
            <a:ext cx="616386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Final grade (G3)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82057" y="4512143"/>
            <a:ext cx="647003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Aca</a:t>
            </a:r>
            <a:r>
              <a:rPr lang="en-US" sz="249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demic (G1, G2), absences, study time, failures, family background, and behavior.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43543" y="5755321"/>
            <a:ext cx="6163869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Ran</a:t>
            </a:r>
            <a:r>
              <a:rPr lang="en-US" sz="249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dom Forest Regressor — supervised learning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46753" y="7300704"/>
            <a:ext cx="6171835" cy="78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78"/>
              </a:lnSpc>
              <a:spcBef>
                <a:spcPct val="0"/>
              </a:spcBef>
            </a:pPr>
            <a:r>
              <a:rPr lang="en-US" sz="2302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Pre</a:t>
            </a:r>
            <a:r>
              <a:rPr lang="en-US" sz="2302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dict final grade →  support at-risk students</a:t>
            </a:r>
          </a:p>
        </p:txBody>
      </p:sp>
      <p:grpSp>
        <p:nvGrpSpPr>
          <p:cNvPr name="Group 28" id="28"/>
          <p:cNvGrpSpPr/>
          <p:nvPr/>
        </p:nvGrpSpPr>
        <p:grpSpPr>
          <a:xfrm rot="5400000">
            <a:off x="4755237" y="514400"/>
            <a:ext cx="1376755" cy="1376755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994356" y="811612"/>
            <a:ext cx="6134277" cy="61342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533957" y="823012"/>
            <a:ext cx="787054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85"/>
              </a:lnSpc>
              <a:spcBef>
                <a:spcPct val="0"/>
              </a:spcBef>
            </a:pPr>
            <a:r>
              <a:rPr lang="en-US" b="true" sz="4738">
                <a:solidFill>
                  <a:srgbClr val="FFBD59"/>
                </a:solidFill>
                <a:latin typeface="Almarai Bold"/>
                <a:ea typeface="Almarai Bold"/>
                <a:cs typeface="Almarai Bold"/>
                <a:sym typeface="Almarai Bold"/>
              </a:rPr>
              <a:t>HOW THE MODEL WORKS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91355" y="4174616"/>
            <a:ext cx="6134277" cy="61342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287060" y="2395831"/>
            <a:ext cx="4038572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Input 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42165" y="2214421"/>
            <a:ext cx="6668094" cy="83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5"/>
              </a:lnSpc>
              <a:spcBef>
                <a:spcPct val="0"/>
              </a:spcBef>
            </a:pPr>
            <a:r>
              <a:rPr lang="en-US" sz="2496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St</a:t>
            </a:r>
            <a:r>
              <a:rPr lang="en-US" sz="2496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udent data (grades, absences, study time, family info)</a:t>
            </a:r>
          </a:p>
        </p:txBody>
      </p:sp>
      <p:grpSp>
        <p:nvGrpSpPr>
          <p:cNvPr name="Group 13" id="13"/>
          <p:cNvGrpSpPr/>
          <p:nvPr/>
        </p:nvGrpSpPr>
        <p:grpSpPr>
          <a:xfrm rot="5400000">
            <a:off x="2807453" y="603960"/>
            <a:ext cx="1224824" cy="122482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691742" y="756337"/>
            <a:ext cx="1456246" cy="83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42165" y="3831125"/>
            <a:ext cx="5216826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Prediction 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7060" y="5719702"/>
            <a:ext cx="5216826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Strong Predictors: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17220" y="7718595"/>
            <a:ext cx="5216826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Model Accuracy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411700" y="22192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325632" y="3700402"/>
            <a:ext cx="5441951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This st</a:t>
            </a:r>
            <a:r>
              <a:rPr lang="en-US" sz="249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udent is likely to score 13 out of 20 in the final exam."</a:t>
            </a:r>
          </a:p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6423025" y="5425395"/>
            <a:ext cx="5441951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G1, G2</a:t>
            </a:r>
            <a:r>
              <a:rPr lang="en-US" sz="249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 → earlier grades</a:t>
            </a:r>
          </a:p>
          <a:p>
            <a:pPr algn="l" marL="539749" indent="-269875" lvl="1">
              <a:lnSpc>
                <a:spcPts val="34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Absences, Study Time</a:t>
            </a:r>
          </a:p>
          <a:p>
            <a:pPr algn="l" marL="539749" indent="-269875" lvl="1">
              <a:lnSpc>
                <a:spcPts val="34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Failures</a:t>
            </a:r>
          </a:p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076183" y="7480470"/>
            <a:ext cx="6084894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R² =</a:t>
            </a:r>
            <a:r>
              <a:rPr lang="en-US" sz="249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 81% (explains most of the variation)</a:t>
            </a:r>
          </a:p>
          <a:p>
            <a:pPr algn="l" marL="539749" indent="-269875" lvl="1">
              <a:lnSpc>
                <a:spcPts val="34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M</a:t>
            </a:r>
            <a:r>
              <a:rPr lang="en-US" sz="249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AE = 1.16 points error (on average)</a:t>
            </a:r>
          </a:p>
          <a:p>
            <a:pPr algn="l" marL="0" indent="0" lvl="0">
              <a:lnSpc>
                <a:spcPts val="34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9515" y="1484354"/>
            <a:ext cx="6376662" cy="6376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848340" y="875530"/>
            <a:ext cx="7594311" cy="759431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6972" y="3338493"/>
            <a:ext cx="4800049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8"/>
              </a:lnSpc>
            </a:pPr>
          </a:p>
          <a:p>
            <a:pPr algn="ctr" marL="0" indent="0" lvl="0">
              <a:lnSpc>
                <a:spcPts val="7440"/>
              </a:lnSpc>
              <a:spcBef>
                <a:spcPct val="0"/>
              </a:spcBef>
            </a:pPr>
            <a:r>
              <a:rPr lang="en-US" b="true" sz="6200">
                <a:solidFill>
                  <a:srgbClr val="FFBD59"/>
                </a:solidFill>
                <a:latin typeface="Almarai Bold"/>
                <a:ea typeface="Almarai Bold"/>
                <a:cs typeface="Almarai Bold"/>
                <a:sym typeface="Almarai Bold"/>
              </a:rPr>
              <a:t>MODEL IN 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67532" y="1037034"/>
            <a:ext cx="4402447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9"/>
              </a:lnSpc>
              <a:spcBef>
                <a:spcPct val="0"/>
              </a:spcBef>
            </a:pPr>
            <a:r>
              <a:rPr lang="en-US" b="true" sz="3499">
                <a:solidFill>
                  <a:srgbClr val="17E3B2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a. Data Display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65852" y="6894717"/>
            <a:ext cx="6015843" cy="85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458" indent="-273229" lvl="1">
              <a:lnSpc>
                <a:spcPts val="3492"/>
              </a:lnSpc>
              <a:buFont typeface="Arial"/>
              <a:buChar char="•"/>
            </a:pPr>
            <a:r>
              <a:rPr lang="en-US" sz="2531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Data categorization into categorical and numerical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043708" y="695619"/>
            <a:ext cx="1371267" cy="13712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673048" y="1149548"/>
            <a:ext cx="585607" cy="669613"/>
          </a:xfrm>
          <a:custGeom>
            <a:avLst/>
            <a:gdLst/>
            <a:ahLst/>
            <a:cxnLst/>
            <a:rect r="r" b="b" t="t" l="l"/>
            <a:pathLst>
              <a:path h="669613" w="585607">
                <a:moveTo>
                  <a:pt x="0" y="0"/>
                </a:moveTo>
                <a:lnTo>
                  <a:pt x="585607" y="0"/>
                </a:lnTo>
                <a:lnTo>
                  <a:pt x="585607" y="669613"/>
                </a:lnTo>
                <a:lnTo>
                  <a:pt x="0" y="669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870983" y="2066886"/>
            <a:ext cx="5754080" cy="8220114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5400000">
            <a:off x="1980295" y="2777437"/>
            <a:ext cx="1224824" cy="122482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5860010" y="2309116"/>
            <a:ext cx="10493900" cy="4385576"/>
          </a:xfrm>
          <a:custGeom>
            <a:avLst/>
            <a:gdLst/>
            <a:ahLst/>
            <a:cxnLst/>
            <a:rect r="r" b="b" t="t" l="l"/>
            <a:pathLst>
              <a:path h="4385576" w="10493900">
                <a:moveTo>
                  <a:pt x="0" y="0"/>
                </a:moveTo>
                <a:lnTo>
                  <a:pt x="10493900" y="0"/>
                </a:lnTo>
                <a:lnTo>
                  <a:pt x="10493900" y="4385576"/>
                </a:lnTo>
                <a:lnTo>
                  <a:pt x="0" y="43855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748873" y="2912919"/>
            <a:ext cx="1456246" cy="85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7ED957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46437" y="566685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3754345" y="2066886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4568077" y="7734423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660736" y="417195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217843" y="1939138"/>
            <a:ext cx="11557963" cy="4768834"/>
          </a:xfrm>
          <a:custGeom>
            <a:avLst/>
            <a:gdLst/>
            <a:ahLst/>
            <a:cxnLst/>
            <a:rect r="r" b="b" t="t" l="l"/>
            <a:pathLst>
              <a:path h="4768834" w="11557963">
                <a:moveTo>
                  <a:pt x="0" y="0"/>
                </a:moveTo>
                <a:lnTo>
                  <a:pt x="11557963" y="0"/>
                </a:lnTo>
                <a:lnTo>
                  <a:pt x="11557963" y="4768834"/>
                </a:lnTo>
                <a:lnTo>
                  <a:pt x="0" y="4768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85560" y="903465"/>
            <a:ext cx="902176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17E3B2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b. Preprocessing</a:t>
            </a:r>
          </a:p>
        </p:txBody>
      </p:sp>
      <p:grpSp>
        <p:nvGrpSpPr>
          <p:cNvPr name="Group 13" id="13"/>
          <p:cNvGrpSpPr/>
          <p:nvPr/>
        </p:nvGrpSpPr>
        <p:grpSpPr>
          <a:xfrm rot="5400000">
            <a:off x="16201442" y="4323555"/>
            <a:ext cx="1224824" cy="122482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804151" y="7236610"/>
            <a:ext cx="9588171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5FFF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</a:t>
            </a:r>
            <a:r>
              <a:rPr lang="en-US" sz="2700" b="true">
                <a:solidFill>
                  <a:srgbClr val="F5FFF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-</a:t>
            </a:r>
            <a:r>
              <a:rPr lang="en-US" sz="2700" b="true">
                <a:solidFill>
                  <a:srgbClr val="F5FFF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Check and handle missing values (none found). 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5FFF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 - Check for and handle duplicate rows.</a:t>
            </a:r>
          </a:p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700">
                <a:solidFill>
                  <a:srgbClr val="F5FFF5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   - Split the data into training (80%) and testing (20%)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45689" y="-113796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5727" t="0" r="-157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443530" y="790790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243204" y="-1279990"/>
            <a:ext cx="12010783" cy="10400796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02591" t="0" r="-10259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49544" y="3920409"/>
            <a:ext cx="2446183" cy="244618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575120" y="4511251"/>
            <a:ext cx="795031" cy="1150702"/>
          </a:xfrm>
          <a:custGeom>
            <a:avLst/>
            <a:gdLst/>
            <a:ahLst/>
            <a:cxnLst/>
            <a:rect r="r" b="b" t="t" l="l"/>
            <a:pathLst>
              <a:path h="1150702" w="795031">
                <a:moveTo>
                  <a:pt x="0" y="0"/>
                </a:moveTo>
                <a:lnTo>
                  <a:pt x="795030" y="0"/>
                </a:lnTo>
                <a:lnTo>
                  <a:pt x="795030" y="1150702"/>
                </a:lnTo>
                <a:lnTo>
                  <a:pt x="0" y="1150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481653" y="7637341"/>
            <a:ext cx="8461089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 spc="244">
                <a:solidFill>
                  <a:srgbClr val="F5FFF5"/>
                </a:solidFill>
                <a:latin typeface="Comic Sans"/>
                <a:ea typeface="Comic Sans"/>
                <a:cs typeface="Comic Sans"/>
                <a:sym typeface="Comic Sans"/>
              </a:rPr>
              <a:t>Actual vs Predicted Grades scatter plot where data points are closely clustered along the red diagonal line</a:t>
            </a:r>
          </a:p>
          <a:p>
            <a:pPr algn="l" marL="539749" indent="-269875" lvl="1">
              <a:lnSpc>
                <a:spcPts val="3449"/>
              </a:lnSpc>
              <a:buFont typeface="Arial"/>
              <a:buChar char="•"/>
            </a:pPr>
            <a:r>
              <a:rPr lang="en-US" sz="2499" spc="244" u="none">
                <a:solidFill>
                  <a:srgbClr val="F5FFF5"/>
                </a:solidFill>
                <a:latin typeface="Comic Sans"/>
                <a:ea typeface="Comic Sans"/>
                <a:cs typeface="Comic Sans"/>
                <a:sym typeface="Comic Sans"/>
              </a:rPr>
              <a:t> A few points deviate.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664277" y="-871079"/>
            <a:ext cx="1683983" cy="2405689"/>
            <a:chOff x="0" y="0"/>
            <a:chExt cx="4445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6417309" y="1645890"/>
            <a:ext cx="841991" cy="84199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5400000">
            <a:off x="4954600" y="8477293"/>
            <a:ext cx="1018035" cy="101803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463544" y="7799071"/>
            <a:ext cx="2374761" cy="3392515"/>
            <a:chOff x="0" y="0"/>
            <a:chExt cx="4445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7743216" y="1543639"/>
            <a:ext cx="7907708" cy="5935222"/>
          </a:xfrm>
          <a:custGeom>
            <a:avLst/>
            <a:gdLst/>
            <a:ahLst/>
            <a:cxnLst/>
            <a:rect r="r" b="b" t="t" l="l"/>
            <a:pathLst>
              <a:path h="5935222" w="7907708">
                <a:moveTo>
                  <a:pt x="0" y="0"/>
                </a:moveTo>
                <a:lnTo>
                  <a:pt x="7907708" y="0"/>
                </a:lnTo>
                <a:lnTo>
                  <a:pt x="7907708" y="5935223"/>
                </a:lnTo>
                <a:lnTo>
                  <a:pt x="0" y="59352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74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767579" y="790790"/>
            <a:ext cx="902176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17E3B2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c. Results after training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89988" y="154626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8218695" y="4755769"/>
            <a:ext cx="333173" cy="259086"/>
            <a:chOff x="0" y="0"/>
            <a:chExt cx="812800" cy="632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772625" y="3197734"/>
            <a:ext cx="3380678" cy="35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7"/>
              </a:lnSpc>
              <a:spcBef>
                <a:spcPct val="0"/>
              </a:spcBef>
            </a:pPr>
            <a:r>
              <a:rPr lang="en-US" b="true" sz="210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Moderate Influencers: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85281" y="6272317"/>
            <a:ext cx="2492805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ETHICAL 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61478" y="2057361"/>
            <a:ext cx="6182777" cy="107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98"/>
              </a:lnSpc>
            </a:pPr>
            <a:r>
              <a:rPr lang="en-US" sz="23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🔸First and second grades va</a:t>
            </a:r>
            <a:r>
              <a:rPr lang="en-US" sz="2300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riables had the most direct impact on predicting G3</a:t>
            </a:r>
          </a:p>
          <a:p>
            <a:pPr algn="just" marL="0" indent="0" lvl="0">
              <a:lnSpc>
                <a:spcPts val="289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5108870"/>
            <a:ext cx="7530106" cy="137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33"/>
              </a:lnSpc>
            </a:pPr>
            <a:r>
              <a:rPr lang="en-US" sz="2169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🔸 Soci</a:t>
            </a:r>
            <a:r>
              <a:rPr lang="en-US" sz="216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odemographic Factors:</a:t>
            </a:r>
          </a:p>
          <a:p>
            <a:pPr algn="just" marL="468365" indent="-234182" lvl="1">
              <a:lnSpc>
                <a:spcPts val="2733"/>
              </a:lnSpc>
              <a:buFont typeface="Arial"/>
              <a:buChar char="•"/>
            </a:pPr>
            <a:r>
              <a:rPr lang="en-US" sz="216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These have some but lesser impact:</a:t>
            </a:r>
          </a:p>
          <a:p>
            <a:pPr algn="just" marL="936730" indent="-312243" lvl="2">
              <a:lnSpc>
                <a:spcPts val="2733"/>
              </a:lnSpc>
              <a:buFont typeface="Arial"/>
              <a:buChar char="⚬"/>
            </a:pPr>
            <a:r>
              <a:rPr lang="en-US" sz="2169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Medu and Fedu (Mother's and Father's education).</a:t>
            </a:r>
          </a:p>
          <a:p>
            <a:pPr algn="just" marL="0" indent="0" lvl="0">
              <a:lnSpc>
                <a:spcPts val="273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319849" y="6940606"/>
            <a:ext cx="7354257" cy="266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24"/>
              </a:lnSpc>
            </a:pPr>
            <a:r>
              <a:rPr lang="en-US" sz="24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🔸 Pr</a:t>
            </a:r>
            <a:r>
              <a:rPr lang="en-US" sz="2400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otect student privacy (family &amp; personal data).</a:t>
            </a:r>
          </a:p>
          <a:p>
            <a:pPr algn="just">
              <a:lnSpc>
                <a:spcPts val="3024"/>
              </a:lnSpc>
            </a:pPr>
            <a:r>
              <a:rPr lang="en-US" sz="2400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🔸 Avoid reinforcing social biases — use predictions to help, not label.</a:t>
            </a:r>
          </a:p>
          <a:p>
            <a:pPr algn="just">
              <a:lnSpc>
                <a:spcPts val="3024"/>
              </a:lnSpc>
            </a:pPr>
            <a:r>
              <a:rPr lang="en-US" sz="2400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🔸 Model is a tool to assist teachers, not replace them.</a:t>
            </a:r>
          </a:p>
          <a:p>
            <a:pPr algn="just" marL="0" indent="0" lvl="0">
              <a:lnSpc>
                <a:spcPts val="3024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6124831" y="5999272"/>
            <a:ext cx="1869881" cy="186988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2975" y="4709201"/>
            <a:ext cx="4534156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5"/>
              </a:lnSpc>
              <a:spcBef>
                <a:spcPct val="0"/>
              </a:spcBef>
            </a:pPr>
            <a:r>
              <a:rPr lang="en-US" b="true" sz="3737">
                <a:solidFill>
                  <a:srgbClr val="FFBD59"/>
                </a:solidFill>
                <a:latin typeface="Almarai Bold"/>
                <a:ea typeface="Almarai Bold"/>
                <a:cs typeface="Almarai Bold"/>
                <a:sym typeface="Almarai Bold"/>
              </a:rPr>
              <a:t>RESULTS &amp; ETHICAL CONSIDERATIONS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637097" y="6526409"/>
            <a:ext cx="889126" cy="866494"/>
          </a:xfrm>
          <a:custGeom>
            <a:avLst/>
            <a:gdLst/>
            <a:ahLst/>
            <a:cxnLst/>
            <a:rect r="r" b="b" t="t" l="l"/>
            <a:pathLst>
              <a:path h="866494" w="889126">
                <a:moveTo>
                  <a:pt x="0" y="0"/>
                </a:moveTo>
                <a:lnTo>
                  <a:pt x="889126" y="0"/>
                </a:lnTo>
                <a:lnTo>
                  <a:pt x="889126" y="866494"/>
                </a:lnTo>
                <a:lnTo>
                  <a:pt x="0" y="86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5400000">
            <a:off x="1695181" y="3122377"/>
            <a:ext cx="1224824" cy="122482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695181" y="3382795"/>
            <a:ext cx="1224824" cy="637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US" b="true" sz="3787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26223" y="872535"/>
            <a:ext cx="2492805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b="true" sz="3200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RESULTS : 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92018" y="1573777"/>
            <a:ext cx="3380678" cy="39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5"/>
              </a:lnSpc>
              <a:spcBef>
                <a:spcPct val="0"/>
              </a:spcBef>
            </a:pPr>
            <a:r>
              <a:rPr lang="en-US" b="true" sz="2199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  Strong Influencers: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44368" y="4680626"/>
            <a:ext cx="3380678" cy="35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7"/>
              </a:lnSpc>
              <a:spcBef>
                <a:spcPct val="0"/>
              </a:spcBef>
            </a:pPr>
            <a:r>
              <a:rPr lang="en-US" b="true" sz="2100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 Least Influencers:</a:t>
            </a:r>
          </a:p>
        </p:txBody>
      </p:sp>
      <p:grpSp>
        <p:nvGrpSpPr>
          <p:cNvPr name="Group 29" id="29"/>
          <p:cNvGrpSpPr/>
          <p:nvPr/>
        </p:nvGrpSpPr>
        <p:grpSpPr>
          <a:xfrm rot="5400000">
            <a:off x="8348238" y="1770756"/>
            <a:ext cx="333173" cy="259086"/>
            <a:chOff x="0" y="0"/>
            <a:chExt cx="812800" cy="63206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8218695" y="3263263"/>
            <a:ext cx="333173" cy="259086"/>
            <a:chOff x="0" y="0"/>
            <a:chExt cx="812800" cy="63206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161478" y="3727364"/>
            <a:ext cx="6555462" cy="33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72"/>
              </a:lnSpc>
            </a:pPr>
            <a:r>
              <a:rPr lang="en-US" sz="22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🔸Absence, study time and pa</a:t>
            </a:r>
            <a:r>
              <a:rPr lang="en-US" sz="2200" strike="noStrike" u="none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st class failures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720979" y="474042"/>
            <a:ext cx="1592844" cy="1592844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6254540" y="910001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81" y="367396"/>
            <a:ext cx="7569105" cy="7868257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27939" t="0" r="-27939" b="0"/>
              </a:stretch>
            </a:blipFill>
          </p:spPr>
        </p:sp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943571" y="7570953"/>
            <a:ext cx="3567648" cy="1100388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4681" y="1557298"/>
            <a:ext cx="7569105" cy="7868257"/>
            <a:chOff x="0" y="0"/>
            <a:chExt cx="6108573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4"/>
              <a:stretch>
                <a:fillRect l="-133175" t="0" r="-13317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824495" y="659748"/>
            <a:ext cx="677884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4"/>
              </a:lnSpc>
              <a:spcBef>
                <a:spcPct val="0"/>
              </a:spcBef>
            </a:pPr>
            <a:r>
              <a:rPr lang="en-US" b="true" sz="5670">
                <a:solidFill>
                  <a:srgbClr val="FFBD59"/>
                </a:solidFill>
                <a:latin typeface="Almarai Bold"/>
                <a:ea typeface="Almarai Bold"/>
                <a:cs typeface="Almarai Bold"/>
                <a:sym typeface="Almarai Bold"/>
              </a:rPr>
              <a:t>IMPACT ON SDG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53313" y="2936596"/>
            <a:ext cx="7251811" cy="398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6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✅ Enabl</a:t>
            </a:r>
            <a:r>
              <a:rPr lang="en-US" sz="2069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es early interventions before final exams.</a:t>
            </a:r>
          </a:p>
          <a:p>
            <a:pPr algn="l">
              <a:lnSpc>
                <a:spcPts val="2855"/>
              </a:lnSpc>
              <a:spcBef>
                <a:spcPct val="0"/>
              </a:spcBef>
            </a:pPr>
          </a:p>
          <a:p>
            <a:pPr algn="l">
              <a:lnSpc>
                <a:spcPts val="2855"/>
              </a:lnSpc>
              <a:spcBef>
                <a:spcPct val="0"/>
              </a:spcBef>
            </a:pPr>
          </a:p>
          <a:p>
            <a:pPr algn="l">
              <a:lnSpc>
                <a:spcPts val="2855"/>
              </a:lnSpc>
              <a:spcBef>
                <a:spcPct val="0"/>
              </a:spcBef>
            </a:pPr>
          </a:p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69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✅ Helps educators offer support: tutoring, counseling, mentorship.</a:t>
            </a:r>
          </a:p>
          <a:p>
            <a:pPr algn="l">
              <a:lnSpc>
                <a:spcPts val="2855"/>
              </a:lnSpc>
              <a:spcBef>
                <a:spcPct val="0"/>
              </a:spcBef>
            </a:pPr>
          </a:p>
          <a:p>
            <a:pPr algn="l">
              <a:lnSpc>
                <a:spcPts val="2855"/>
              </a:lnSpc>
              <a:spcBef>
                <a:spcPct val="0"/>
              </a:spcBef>
            </a:pPr>
          </a:p>
          <a:p>
            <a:pPr algn="l">
              <a:lnSpc>
                <a:spcPts val="2855"/>
              </a:lnSpc>
              <a:spcBef>
                <a:spcPct val="0"/>
              </a:spcBef>
            </a:pPr>
            <a:r>
              <a:rPr lang="en-US" sz="2069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✅ Reduces failure and dropout — improving equitable education</a:t>
            </a:r>
          </a:p>
          <a:p>
            <a:pPr algn="l" marL="0" indent="0" lvl="0">
              <a:lnSpc>
                <a:spcPts val="2855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2609574" y="3114847"/>
            <a:ext cx="94516" cy="7607037"/>
            <a:chOff x="0" y="0"/>
            <a:chExt cx="24893" cy="20034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893" cy="2003499"/>
            </a:xfrm>
            <a:custGeom>
              <a:avLst/>
              <a:gdLst/>
              <a:ahLst/>
              <a:cxnLst/>
              <a:rect r="r" b="b" t="t" l="l"/>
              <a:pathLst>
                <a:path h="2003499" w="24893">
                  <a:moveTo>
                    <a:pt x="0" y="0"/>
                  </a:moveTo>
                  <a:lnTo>
                    <a:pt x="24893" y="0"/>
                  </a:lnTo>
                  <a:lnTo>
                    <a:pt x="24893" y="2003499"/>
                  </a:lnTo>
                  <a:lnTo>
                    <a:pt x="0" y="2003499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4893" cy="2051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8383886" y="570576"/>
            <a:ext cx="1224824" cy="122482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357292" y="713428"/>
            <a:ext cx="1456246" cy="84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96298" y="2066886"/>
            <a:ext cx="677884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7ED95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🌟 How This Supports SDG 4</a:t>
            </a:r>
          </a:p>
        </p:txBody>
      </p:sp>
      <p:grpSp>
        <p:nvGrpSpPr>
          <p:cNvPr name="Group 18" id="18"/>
          <p:cNvGrpSpPr/>
          <p:nvPr/>
        </p:nvGrpSpPr>
        <p:grpSpPr>
          <a:xfrm rot="5400000">
            <a:off x="12609574" y="-13918"/>
            <a:ext cx="94516" cy="7607037"/>
            <a:chOff x="0" y="0"/>
            <a:chExt cx="24893" cy="20034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893" cy="2003499"/>
            </a:xfrm>
            <a:custGeom>
              <a:avLst/>
              <a:gdLst/>
              <a:ahLst/>
              <a:cxnLst/>
              <a:rect r="r" b="b" t="t" l="l"/>
              <a:pathLst>
                <a:path h="2003499" w="24893">
                  <a:moveTo>
                    <a:pt x="0" y="0"/>
                  </a:moveTo>
                  <a:lnTo>
                    <a:pt x="24893" y="0"/>
                  </a:lnTo>
                  <a:lnTo>
                    <a:pt x="24893" y="2003499"/>
                  </a:lnTo>
                  <a:lnTo>
                    <a:pt x="0" y="2003499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4893" cy="2051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2609574" y="1535536"/>
            <a:ext cx="94516" cy="7607037"/>
            <a:chOff x="0" y="0"/>
            <a:chExt cx="24893" cy="20034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893" cy="2003499"/>
            </a:xfrm>
            <a:custGeom>
              <a:avLst/>
              <a:gdLst/>
              <a:ahLst/>
              <a:cxnLst/>
              <a:rect r="r" b="b" t="t" l="l"/>
              <a:pathLst>
                <a:path h="2003499" w="24893">
                  <a:moveTo>
                    <a:pt x="0" y="0"/>
                  </a:moveTo>
                  <a:lnTo>
                    <a:pt x="24893" y="0"/>
                  </a:lnTo>
                  <a:lnTo>
                    <a:pt x="24893" y="2003499"/>
                  </a:lnTo>
                  <a:lnTo>
                    <a:pt x="0" y="2003499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4893" cy="2051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86267" y="1582626"/>
            <a:ext cx="7569105" cy="7868257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28159" t="0" r="-2815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985838" y="6132110"/>
            <a:ext cx="49626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pc="139">
                <a:solidFill>
                  <a:srgbClr val="FFFBFB"/>
                </a:solidFill>
                <a:latin typeface="Almarai"/>
                <a:ea typeface="Almarai"/>
                <a:cs typeface="Almarai"/>
                <a:sym typeface="Almarai"/>
              </a:rPr>
              <a:t>Name:  Sharon Kipsang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5634" y="5219218"/>
            <a:ext cx="2889186" cy="585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b="true" sz="3721" spc="186">
                <a:solidFill>
                  <a:srgbClr val="FF914D"/>
                </a:solidFill>
                <a:latin typeface="Almarai Bold"/>
                <a:ea typeface="Almarai Bold"/>
                <a:cs typeface="Almarai Bold"/>
                <a:sym typeface="Almarai Bold"/>
              </a:rPr>
              <a:t>Project by: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364" y="1536838"/>
            <a:ext cx="7345501" cy="246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9"/>
              </a:lnSpc>
            </a:pPr>
            <a:r>
              <a:rPr lang="en-US" b="true" sz="14399" spc="878">
                <a:solidFill>
                  <a:srgbClr val="FFBD59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Q &amp; 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5838" y="7023425"/>
            <a:ext cx="496266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spc="139">
                <a:solidFill>
                  <a:srgbClr val="FFFBFB"/>
                </a:solidFill>
                <a:latin typeface="Almarai"/>
                <a:ea typeface="Almarai"/>
                <a:cs typeface="Almarai"/>
                <a:sym typeface="Almarai"/>
              </a:rPr>
              <a:t>Git: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DAGrkURnaUM</dc:identifier>
  <dcterms:modified xsi:type="dcterms:W3CDTF">2011-08-01T06:04:30Z</dcterms:modified>
  <cp:revision>1</cp:revision>
  <dc:title>Connect with us.</dc:title>
</cp:coreProperties>
</file>